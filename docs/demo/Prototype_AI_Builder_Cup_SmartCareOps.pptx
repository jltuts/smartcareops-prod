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oogle Sans Flex" panose="020B0604020202020204" charset="0"/>
      <p:regular r:id="rId19"/>
      <p:bold r:id="rId20"/>
    </p:embeddedFont>
    <p:embeddedFont>
      <p:font typeface="Google Sans Flex Medium" panose="020B0604020202020204" charset="0"/>
      <p:regular r:id="rId21"/>
      <p:bold r:id="rId22"/>
    </p:embeddedFont>
    <p:embeddedFont>
      <p:font typeface="Google Sans Flex SemiBol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59" name="Google Shape;59;g3fb085bff3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name: Constellation Builders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leader name: John Louis Garcia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Problem Statement: Sustainability &amp; Social Impact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3" name="Definition">
            <a:extLst>
              <a:ext uri="{FF2B5EF4-FFF2-40B4-BE49-F238E27FC236}">
                <a16:creationId xmlns:a16="http://schemas.microsoft.com/office/drawing/2014/main" id="{794ADF32-50C7-8776-6A9A-6443D8756851}"/>
              </a:ext>
            </a:extLst>
          </p:cNvPr>
          <p:cNvSpPr>
            <a:spLocks noGrp="1"/>
          </p:cNvSpPr>
          <p:nvPr/>
        </p:nvSpPr>
        <p:spPr>
          <a:xfrm>
            <a:off x="361950" y="1238250"/>
            <a:ext cx="835342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SmartCareOps is an agentic healthcare orchestration platform that turns patient conversations into coordinated care actions.</a:t>
            </a:r>
          </a:p>
        </p:txBody>
      </p:sp>
      <p:sp>
        <p:nvSpPr>
          <p:cNvPr id="5" name="Intelligence layer 1">
            <a:extLst>
              <a:ext uri="{FF2B5EF4-FFF2-40B4-BE49-F238E27FC236}">
                <a16:creationId xmlns:a16="http://schemas.microsoft.com/office/drawing/2014/main" id="{797A28DF-B01C-DF14-006E-54EFEBA3A1B5}"/>
              </a:ext>
            </a:extLst>
          </p:cNvPr>
          <p:cNvSpPr>
            <a:spLocks noGrp="1"/>
          </p:cNvSpPr>
          <p:nvPr/>
        </p:nvSpPr>
        <p:spPr>
          <a:xfrm>
            <a:off x="361950" y="2076450"/>
            <a:ext cx="26479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1967D2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1">
                <a:solidFill>
                  <a:srgbClr val="1967D2"/>
                </a:solidFill>
                <a:latin typeface="Google Sans Flex"/>
                <a:ea typeface="Google Sans Flex"/>
                <a:cs typeface="Google Sans Flex"/>
              </a:rPr>
              <a:t>Patient Intake understands the present.</a:t>
            </a:r>
          </a:p>
        </p:txBody>
      </p:sp>
      <p:sp>
        <p:nvSpPr>
          <p:cNvPr id="7" name="Layer detail 1">
            <a:extLst>
              <a:ext uri="{FF2B5EF4-FFF2-40B4-BE49-F238E27FC236}">
                <a16:creationId xmlns:a16="http://schemas.microsoft.com/office/drawing/2014/main" id="{A7AE38F8-1D93-5669-F6AC-9553378F3B76}"/>
              </a:ext>
            </a:extLst>
          </p:cNvPr>
          <p:cNvSpPr>
            <a:spLocks noGrp="1"/>
          </p:cNvSpPr>
          <p:nvPr/>
        </p:nvSpPr>
        <p:spPr>
          <a:xfrm>
            <a:off x="361950" y="3276600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Live captures symptoms, vitals and context through natural voice interaction.</a:t>
            </a:r>
          </a:p>
        </p:txBody>
      </p:sp>
      <p:sp>
        <p:nvSpPr>
          <p:cNvPr id="9" name="Intelligence layer 2">
            <a:extLst>
              <a:ext uri="{FF2B5EF4-FFF2-40B4-BE49-F238E27FC236}">
                <a16:creationId xmlns:a16="http://schemas.microsoft.com/office/drawing/2014/main" id="{32EA8CEA-8DB2-C0D1-0CF3-71382A06B55F}"/>
              </a:ext>
            </a:extLst>
          </p:cNvPr>
          <p:cNvSpPr>
            <a:spLocks noGrp="1"/>
          </p:cNvSpPr>
          <p:nvPr/>
        </p:nvSpPr>
        <p:spPr>
          <a:xfrm>
            <a:off x="3238500" y="2076450"/>
            <a:ext cx="26479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</a:rPr>
              <a:t>Doctor Portal reasons about the individual.</a:t>
            </a:r>
          </a:p>
        </p:txBody>
      </p:sp>
      <p:sp>
        <p:nvSpPr>
          <p:cNvPr id="11" name="Layer detail 2">
            <a:extLst>
              <a:ext uri="{FF2B5EF4-FFF2-40B4-BE49-F238E27FC236}">
                <a16:creationId xmlns:a16="http://schemas.microsoft.com/office/drawing/2014/main" id="{1E65DBA2-8C0D-CCD0-20E9-777A82A5FC7C}"/>
              </a:ext>
            </a:extLst>
          </p:cNvPr>
          <p:cNvSpPr>
            <a:spLocks noGrp="1"/>
          </p:cNvSpPr>
          <p:nvPr/>
        </p:nvSpPr>
        <p:spPr>
          <a:xfrm>
            <a:off x="3238500" y="3276600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explains risks and next steps with Why / Why Not, under doctor approval.</a:t>
            </a:r>
          </a:p>
        </p:txBody>
      </p:sp>
      <p:sp>
        <p:nvSpPr>
          <p:cNvPr id="13" name="Intelligence layer 3">
            <a:extLst>
              <a:ext uri="{FF2B5EF4-FFF2-40B4-BE49-F238E27FC236}">
                <a16:creationId xmlns:a16="http://schemas.microsoft.com/office/drawing/2014/main" id="{1DE56CF7-4096-EFD5-5E9A-CCB4AC1B4DE1}"/>
              </a:ext>
            </a:extLst>
          </p:cNvPr>
          <p:cNvSpPr>
            <a:spLocks noGrp="1"/>
          </p:cNvSpPr>
          <p:nvPr/>
        </p:nvSpPr>
        <p:spPr>
          <a:xfrm>
            <a:off x="6115050" y="2076450"/>
            <a:ext cx="26479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A142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1">
                <a:solidFill>
                  <a:srgbClr val="A142F4"/>
                </a:solidFill>
                <a:latin typeface="Google Sans Flex"/>
                <a:ea typeface="Google Sans Flex"/>
                <a:cs typeface="Google Sans Flex"/>
              </a:rPr>
              <a:t>Command Center reasons about the future of the healthcare system.</a:t>
            </a:r>
          </a:p>
        </p:txBody>
      </p:sp>
      <p:sp>
        <p:nvSpPr>
          <p:cNvPr id="15" name="Layer detail 3">
            <a:extLst>
              <a:ext uri="{FF2B5EF4-FFF2-40B4-BE49-F238E27FC236}">
                <a16:creationId xmlns:a16="http://schemas.microsoft.com/office/drawing/2014/main" id="{8B9D74FB-E049-9B2C-BD5D-B12F1DD2095D}"/>
              </a:ext>
            </a:extLst>
          </p:cNvPr>
          <p:cNvSpPr>
            <a:spLocks noGrp="1"/>
          </p:cNvSpPr>
          <p:nvPr/>
        </p:nvSpPr>
        <p:spPr>
          <a:xfrm>
            <a:off x="6115050" y="3276600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CareTwin forecasts network pressures, compares responses and replans as conditions change.</a:t>
            </a:r>
          </a:p>
        </p:txBody>
      </p:sp>
      <p:sp>
        <p:nvSpPr>
          <p:cNvPr id="17" name="Care journey">
            <a:extLst>
              <a:ext uri="{FF2B5EF4-FFF2-40B4-BE49-F238E27FC236}">
                <a16:creationId xmlns:a16="http://schemas.microsoft.com/office/drawing/2014/main" id="{0AD1EF75-0927-3436-4C22-60DDE72D2AE3}"/>
              </a:ext>
            </a:extLst>
          </p:cNvPr>
          <p:cNvSpPr>
            <a:spLocks noGrp="1"/>
          </p:cNvSpPr>
          <p:nvPr/>
        </p:nvSpPr>
        <p:spPr>
          <a:xfrm>
            <a:off x="361950" y="4114800"/>
            <a:ext cx="84772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9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9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first contact → understand → reason → triage → route → coordinate → respond → monitor → learn</a:t>
            </a:r>
          </a:p>
        </p:txBody>
      </p:sp>
      <p:sp>
        <p:nvSpPr>
          <p:cNvPr id="19" name="Tagline">
            <a:extLst>
              <a:ext uri="{FF2B5EF4-FFF2-40B4-BE49-F238E27FC236}">
                <a16:creationId xmlns:a16="http://schemas.microsoft.com/office/drawing/2014/main" id="{2AAEA2C8-6919-1E44-AEDD-676C727E52B6}"/>
              </a:ext>
            </a:extLst>
          </p:cNvPr>
          <p:cNvSpPr>
            <a:spLocks noGrp="1"/>
          </p:cNvSpPr>
          <p:nvPr/>
        </p:nvSpPr>
        <p:spPr>
          <a:xfrm>
            <a:off x="361950" y="4591050"/>
            <a:ext cx="8477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SmartCareOps </a:t>
            </a:r>
            <a:r>
              <a:rPr lang="en-US" sz="1725" b="1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| </a:t>
            </a:r>
            <a:r>
              <a:rPr sz="1725" b="1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AI that doesn’t just assess. It coordinates 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TextBox 78"/>
          <p:cNvSpPr txBox="1"/>
          <p:nvPr/>
        </p:nvSpPr>
        <p:spPr>
          <a:xfrm>
            <a:off x="365760" y="667512"/>
            <a:ext cx="83210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500" b="1">
                <a:solidFill>
                  <a:srgbClr val="121212"/>
                </a:solidFill>
                <a:latin typeface="Arial"/>
              </a:defRPr>
            </a:pPr>
            <a:r>
              <a:t>How is SmartCareOps different?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1024128"/>
            <a:ext cx="8321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Existing healthcare AI usually optimizes one part of care. SmartCareOps connects the full response loop.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3192" y="1444752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  <a:latin typeface="Arial"/>
              </a:defRPr>
            </a:pPr>
            <a:r>
              <a:t>TODAY: SPECIALIZED AI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93192" y="1700784"/>
            <a:ext cx="27889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93192" y="1700784"/>
            <a:ext cx="64008" cy="6583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072" y="1792224"/>
            <a:ext cx="242316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Arial"/>
              </a:defRPr>
            </a:pPr>
            <a:r>
              <a:t>PATIENT AI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072" y="1993392"/>
            <a:ext cx="242316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Arial"/>
              </a:defRPr>
            </a:pPr>
            <a:r>
              <a:t>Symptom assessment</a:t>
            </a:r>
            <a:br/>
            <a:r>
              <a:t>&amp; triage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3192" y="2468880"/>
            <a:ext cx="27889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93192" y="2468880"/>
            <a:ext cx="64008" cy="65836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76072" y="2560320"/>
            <a:ext cx="242316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Arial"/>
              </a:defRPr>
            </a:pPr>
            <a:r>
              <a:t>CLINICAL 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6072" y="2761488"/>
            <a:ext cx="242316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Arial"/>
              </a:defRPr>
            </a:pPr>
            <a:r>
              <a:t>Decision support</a:t>
            </a:r>
            <a:br/>
            <a:r>
              <a:t>&amp; documentation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93192" y="3236976"/>
            <a:ext cx="27889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93192" y="3236976"/>
            <a:ext cx="64008" cy="65836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6072" y="3328416"/>
            <a:ext cx="242316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Arial"/>
              </a:defRPr>
            </a:pPr>
            <a:r>
              <a:t>OPERATIONS AI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6072" y="3529584"/>
            <a:ext cx="242316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Arial"/>
              </a:defRPr>
            </a:pPr>
            <a:r>
              <a:t>Capacity dashboards</a:t>
            </a:r>
            <a:br/>
            <a:r>
              <a:t>&amp; workflow optimization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10128" y="2340864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1A73E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22191" y="1444752"/>
            <a:ext cx="491947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1A73E8"/>
                </a:solidFill>
                <a:latin typeface="Arial"/>
              </a:defRPr>
            </a:pPr>
            <a:r>
              <a:t>SMARTCAREOPS: CONNECTED INTELLIGENCE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822191" y="1700784"/>
            <a:ext cx="491947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005072" y="1865376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34840" y="1847088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LIVE PATIENT INTAKE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34840" y="2057400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Arial"/>
              </a:defRPr>
            </a:pPr>
            <a:r>
              <a:t>Understands the present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93408" y="1965960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voice • symptoms • vitals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51376" y="2203704"/>
            <a:ext cx="27432" cy="237744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005072" y="2523744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34840" y="2505456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DOCTOR PORTAL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34840" y="2715768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34A853"/>
                </a:solidFill>
                <a:latin typeface="Arial"/>
              </a:defRPr>
            </a:pPr>
            <a:r>
              <a:t>Reasons about the individual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93408" y="2624328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assess • explain • act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51376" y="2862072"/>
            <a:ext cx="27432" cy="237744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005072" y="31821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34840" y="3163824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COMMAND CENTER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34840" y="3374136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EA4335"/>
                </a:solidFill>
                <a:latin typeface="Arial"/>
              </a:defRPr>
            </a:pPr>
            <a:r>
              <a:t>Anticipates the system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93408" y="3282696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predict • simulate • replan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23360" y="3657600"/>
            <a:ext cx="4343400" cy="14630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ONE LOOP • THREE QUESTIONS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23360" y="3803904"/>
            <a:ext cx="43891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defRPr sz="950" b="1">
                <a:solidFill>
                  <a:srgbClr val="121212"/>
                </a:solidFill>
                <a:latin typeface="Arial"/>
              </a:defRPr>
            </a:pPr>
            <a:r>
              <a:t>What is happening?  •  What should we do?  •  What happens next?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93192" y="4242816"/>
            <a:ext cx="8339327" cy="438912"/>
          </a:xfrm>
          <a:prstGeom prst="round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0080" y="4306824"/>
            <a:ext cx="502920" cy="1280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defRPr sz="800" b="1">
                <a:solidFill>
                  <a:srgbClr val="B4B4B4"/>
                </a:solidFill>
                <a:latin typeface="Arial"/>
              </a:defRPr>
            </a:pPr>
            <a:r>
              <a:t>USP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15568" y="4297680"/>
            <a:ext cx="7360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t>Most healthcare AI stops at the answer. SmartCareOps turns it into coordinated action — and keeps reasoning as conditions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284</Words>
  <Application>Microsoft Office PowerPoint</Application>
  <PresentationFormat>On-screen Show (16:9)</PresentationFormat>
  <Paragraphs>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Google Sans Flex SemiBold</vt:lpstr>
      <vt:lpstr>Arial</vt:lpstr>
      <vt:lpstr>Google Sans Flex Medium</vt:lpstr>
      <vt:lpstr>Google Sans Flex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jladmin</dc:creator>
  <cp:lastModifiedBy>JL Garcia</cp:lastModifiedBy>
  <cp:revision>5</cp:revision>
  <dcterms:modified xsi:type="dcterms:W3CDTF">2026-09-25T21:01:04Z</dcterms:modified>
</cp:coreProperties>
</file>