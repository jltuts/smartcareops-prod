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6858000" cy="9144000"/>
  <p:embeddedFontLst>
    <p:embeddedFont>
      <p:font typeface="Google Sans Flex" panose="020B0604020202020204" charset="0"/>
      <p:regular r:id="rId20"/>
      <p:bold r:id="rId21"/>
    </p:embeddedFont>
    <p:embeddedFont>
      <p:font typeface="Google Sans Flex Medium" panose="020B0604020202020204" charset="0"/>
      <p:regular r:id="rId22"/>
      <p:bold r:id="rId23"/>
    </p:embeddedFont>
    <p:embeddedFont>
      <p:font typeface="Google Sans Flex SemiBold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792" autoAdjust="0"/>
  </p:normalViewPr>
  <p:slideViewPr>
    <p:cSldViewPr snapToGrid="0">
      <p:cViewPr varScale="1">
        <p:scale>
          <a:sx n="105" d="100"/>
          <a:sy n="105" d="100"/>
        </p:scale>
        <p:origin x="1794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59" name="Google Shape;59;g3fb085bff3c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67" name="Google Shape;67;g3fb085bff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74" name="Google Shape;74;g3fb085bff3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PH" b="1" dirty="0"/>
              <a:t>Unlike many existing healthcare AI solutions that focus on a single stage such as symptom assessment, clinical assistance, or hospital operations, SmartCareOps connects the patient, clinician, emergency response network, and healthcare command center in one agentic loop.</a:t>
            </a:r>
            <a:endParaRPr lang="en-PH" dirty="0"/>
          </a:p>
          <a:p>
            <a:r>
              <a:rPr lang="en-PH" b="1" dirty="0"/>
              <a:t>It understands patients in real time, reasons over individual cases, coordinates appropriate resources, and predicts how those decisions may affect the wider healthcare system. It can simulate alternative responses, explain trade-offs, detect cross-patient patterns, and continuously replan as hospital capacity and demand change.</a:t>
            </a:r>
            <a:endParaRPr lang="en-PH" dirty="0"/>
          </a:p>
          <a:p>
            <a:r>
              <a:rPr lang="en-PH" b="1" dirty="0"/>
              <a:t>The goal is not simply to produce an AI recommendation, but to turn that recommendation into a coordinated, adaptive response across the care network.</a:t>
            </a:r>
            <a:endParaRPr lang="en-PH" dirty="0"/>
          </a:p>
          <a:p>
            <a:r>
              <a:rPr lang="en-PH" b="1" dirty="0"/>
              <a:t>Most healthcare AI stops after giving an answer. SmartCareOps turns that answer into a coordinated response and keeps reasoning as the situation changes.</a:t>
            </a:r>
            <a:endParaRPr lang="en-PH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4C0286D6-BDFE-B65B-B259-2AF0F9F2F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>
            <a:extLst>
              <a:ext uri="{FF2B5EF4-FFF2-40B4-BE49-F238E27FC236}">
                <a16:creationId xmlns:a16="http://schemas.microsoft.com/office/drawing/2014/main" id="{5C91B566-B3A2-BD2C-0BAD-E4BFED43C5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74" name="Google Shape;74;g3fb085bff3c_0_11:notes">
            <a:extLst>
              <a:ext uri="{FF2B5EF4-FFF2-40B4-BE49-F238E27FC236}">
                <a16:creationId xmlns:a16="http://schemas.microsoft.com/office/drawing/2014/main" id="{620ACE09-FEEE-FEC6-0FE9-CB4FF2D57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923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82" name="Google Shape;82;g3fb085bff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90" name="Google Shape;90;g3fb085bff3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98" name="Google Shape;98;g3fb085bff3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106" name="Google Shape;106;g3fb085bff3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114" name="Google Shape;114;g3fb085bff3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122" name="Google Shape;122;g3fb085bff3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130" name="Google Shape;130;g3fb085bf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138" name="Google Shape;138;g3fb085bff3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146" name="Google Shape;146;g3fb085bff3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154" name="Google Shape;154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162" name="Google Shape;162;g3fb085bff3c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  <p:sp>
        <p:nvSpPr>
          <p:cNvPr id="169" name="Google Shape;169;g3fb085bff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 dirty="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 dirty="0">
                <a:latin typeface="Google Sans Flex"/>
                <a:ea typeface="Google Sans Flex"/>
                <a:cs typeface="Google Sans Flex"/>
                <a:sym typeface="Google Sans Flex"/>
              </a:rPr>
              <a:t>Team name: Constellation Builders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 dirty="0">
                <a:latin typeface="Google Sans Flex"/>
                <a:ea typeface="Google Sans Flex"/>
                <a:cs typeface="Google Sans Flex"/>
                <a:sym typeface="Google Sans Flex"/>
              </a:rPr>
              <a:t>Team leader name: John Louis Garcia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 dirty="0">
                <a:latin typeface="Google Sans Flex"/>
                <a:ea typeface="Google Sans Flex"/>
                <a:cs typeface="Google Sans Flex"/>
                <a:sym typeface="Google Sans Flex"/>
              </a:rPr>
              <a:t>Problem Statement: Sustainability &amp; Social Impact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3" name="Definition">
            <a:extLst>
              <a:ext uri="{FF2B5EF4-FFF2-40B4-BE49-F238E27FC236}">
                <a16:creationId xmlns:a16="http://schemas.microsoft.com/office/drawing/2014/main" id="{794ADF32-50C7-8776-6A9A-6443D8756851}"/>
              </a:ext>
            </a:extLst>
          </p:cNvPr>
          <p:cNvSpPr>
            <a:spLocks noGrp="1"/>
          </p:cNvSpPr>
          <p:nvPr/>
        </p:nvSpPr>
        <p:spPr>
          <a:xfrm>
            <a:off x="361950" y="1238250"/>
            <a:ext cx="8353425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75" b="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SmartCareOps is an agentic healthcare orchestration platform that turns patient conversations into coordinated care actions.</a:t>
            </a:r>
          </a:p>
        </p:txBody>
      </p:sp>
      <p:sp>
        <p:nvSpPr>
          <p:cNvPr id="5" name="Intelligence layer 1">
            <a:extLst>
              <a:ext uri="{FF2B5EF4-FFF2-40B4-BE49-F238E27FC236}">
                <a16:creationId xmlns:a16="http://schemas.microsoft.com/office/drawing/2014/main" id="{797A28DF-B01C-DF14-006E-54EFEBA3A1B5}"/>
              </a:ext>
            </a:extLst>
          </p:cNvPr>
          <p:cNvSpPr>
            <a:spLocks noGrp="1"/>
          </p:cNvSpPr>
          <p:nvPr/>
        </p:nvSpPr>
        <p:spPr>
          <a:xfrm>
            <a:off x="361950" y="2076450"/>
            <a:ext cx="2647950" cy="1133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1">
                <a:solidFill>
                  <a:srgbClr val="1967D2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800" b="1">
                <a:solidFill>
                  <a:srgbClr val="1967D2"/>
                </a:solidFill>
                <a:latin typeface="Google Sans Flex"/>
                <a:ea typeface="Google Sans Flex"/>
                <a:cs typeface="Google Sans Flex"/>
              </a:rPr>
              <a:t>Patient Intake understands the present.</a:t>
            </a:r>
          </a:p>
        </p:txBody>
      </p:sp>
      <p:sp>
        <p:nvSpPr>
          <p:cNvPr id="7" name="Layer detail 1">
            <a:extLst>
              <a:ext uri="{FF2B5EF4-FFF2-40B4-BE49-F238E27FC236}">
                <a16:creationId xmlns:a16="http://schemas.microsoft.com/office/drawing/2014/main" id="{A7AE38F8-1D93-5669-F6AC-9553378F3B76}"/>
              </a:ext>
            </a:extLst>
          </p:cNvPr>
          <p:cNvSpPr>
            <a:spLocks noGrp="1"/>
          </p:cNvSpPr>
          <p:nvPr/>
        </p:nvSpPr>
        <p:spPr>
          <a:xfrm>
            <a:off x="361950" y="3276600"/>
            <a:ext cx="26479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Live captures symptoms, vitals and context through natural voice interaction.</a:t>
            </a:r>
          </a:p>
        </p:txBody>
      </p:sp>
      <p:sp>
        <p:nvSpPr>
          <p:cNvPr id="9" name="Intelligence layer 2">
            <a:extLst>
              <a:ext uri="{FF2B5EF4-FFF2-40B4-BE49-F238E27FC236}">
                <a16:creationId xmlns:a16="http://schemas.microsoft.com/office/drawing/2014/main" id="{32EA8CEA-8DB2-C0D1-0CF3-71382A06B55F}"/>
              </a:ext>
            </a:extLst>
          </p:cNvPr>
          <p:cNvSpPr>
            <a:spLocks noGrp="1"/>
          </p:cNvSpPr>
          <p:nvPr/>
        </p:nvSpPr>
        <p:spPr>
          <a:xfrm>
            <a:off x="3238500" y="2076450"/>
            <a:ext cx="2647950" cy="1133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1">
                <a:solidFill>
                  <a:srgbClr val="18803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800" b="1" dirty="0">
                <a:solidFill>
                  <a:srgbClr val="188038"/>
                </a:solidFill>
                <a:latin typeface="Google Sans Flex"/>
                <a:ea typeface="Google Sans Flex"/>
                <a:cs typeface="Google Sans Flex"/>
              </a:rPr>
              <a:t>Doctor Portal reasons about the individual.</a:t>
            </a:r>
          </a:p>
        </p:txBody>
      </p:sp>
      <p:sp>
        <p:nvSpPr>
          <p:cNvPr id="11" name="Layer detail 2">
            <a:extLst>
              <a:ext uri="{FF2B5EF4-FFF2-40B4-BE49-F238E27FC236}">
                <a16:creationId xmlns:a16="http://schemas.microsoft.com/office/drawing/2014/main" id="{1E65DBA2-8C0D-CCD0-20E9-777A82A5FC7C}"/>
              </a:ext>
            </a:extLst>
          </p:cNvPr>
          <p:cNvSpPr>
            <a:spLocks noGrp="1"/>
          </p:cNvSpPr>
          <p:nvPr/>
        </p:nvSpPr>
        <p:spPr>
          <a:xfrm>
            <a:off x="3238500" y="3276600"/>
            <a:ext cx="26479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0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explains risks and next steps with Why / Why Not, under doctor approval.</a:t>
            </a:r>
          </a:p>
        </p:txBody>
      </p:sp>
      <p:sp>
        <p:nvSpPr>
          <p:cNvPr id="13" name="Intelligence layer 3">
            <a:extLst>
              <a:ext uri="{FF2B5EF4-FFF2-40B4-BE49-F238E27FC236}">
                <a16:creationId xmlns:a16="http://schemas.microsoft.com/office/drawing/2014/main" id="{1DE56CF7-4096-EFD5-5E9A-CCB4AC1B4DE1}"/>
              </a:ext>
            </a:extLst>
          </p:cNvPr>
          <p:cNvSpPr>
            <a:spLocks noGrp="1"/>
          </p:cNvSpPr>
          <p:nvPr/>
        </p:nvSpPr>
        <p:spPr>
          <a:xfrm>
            <a:off x="6115050" y="2076450"/>
            <a:ext cx="2647950" cy="1133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1">
                <a:solidFill>
                  <a:srgbClr val="A142F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800" b="1">
                <a:solidFill>
                  <a:srgbClr val="A142F4"/>
                </a:solidFill>
                <a:latin typeface="Google Sans Flex"/>
                <a:ea typeface="Google Sans Flex"/>
                <a:cs typeface="Google Sans Flex"/>
              </a:rPr>
              <a:t>Command Center reasons about the future of the healthcare system.</a:t>
            </a:r>
          </a:p>
        </p:txBody>
      </p:sp>
      <p:sp>
        <p:nvSpPr>
          <p:cNvPr id="15" name="Layer detail 3">
            <a:extLst>
              <a:ext uri="{FF2B5EF4-FFF2-40B4-BE49-F238E27FC236}">
                <a16:creationId xmlns:a16="http://schemas.microsoft.com/office/drawing/2014/main" id="{8B9D74FB-E049-9B2C-BD5D-B12F1DD2095D}"/>
              </a:ext>
            </a:extLst>
          </p:cNvPr>
          <p:cNvSpPr>
            <a:spLocks noGrp="1"/>
          </p:cNvSpPr>
          <p:nvPr/>
        </p:nvSpPr>
        <p:spPr>
          <a:xfrm>
            <a:off x="6115050" y="3276600"/>
            <a:ext cx="26479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CareTwin forecasts network pressures, compares responses and replans as conditions change.</a:t>
            </a:r>
          </a:p>
        </p:txBody>
      </p:sp>
      <p:sp>
        <p:nvSpPr>
          <p:cNvPr id="17" name="Care journey">
            <a:extLst>
              <a:ext uri="{FF2B5EF4-FFF2-40B4-BE49-F238E27FC236}">
                <a16:creationId xmlns:a16="http://schemas.microsoft.com/office/drawing/2014/main" id="{0AD1EF75-0927-3436-4C22-60DDE72D2AE3}"/>
              </a:ext>
            </a:extLst>
          </p:cNvPr>
          <p:cNvSpPr>
            <a:spLocks noGrp="1"/>
          </p:cNvSpPr>
          <p:nvPr/>
        </p:nvSpPr>
        <p:spPr>
          <a:xfrm>
            <a:off x="361950" y="4114800"/>
            <a:ext cx="84772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9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9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first contact → understand → reason → triage → route → coordinate → respond → monitor → learn</a:t>
            </a:r>
          </a:p>
        </p:txBody>
      </p:sp>
      <p:sp>
        <p:nvSpPr>
          <p:cNvPr id="19" name="Tagline">
            <a:extLst>
              <a:ext uri="{FF2B5EF4-FFF2-40B4-BE49-F238E27FC236}">
                <a16:creationId xmlns:a16="http://schemas.microsoft.com/office/drawing/2014/main" id="{2AAEA2C8-6919-1E44-AEDD-676C727E52B6}"/>
              </a:ext>
            </a:extLst>
          </p:cNvPr>
          <p:cNvSpPr>
            <a:spLocks noGrp="1"/>
          </p:cNvSpPr>
          <p:nvPr/>
        </p:nvSpPr>
        <p:spPr>
          <a:xfrm>
            <a:off x="361950" y="4591050"/>
            <a:ext cx="8477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SmartCareOps </a:t>
            </a:r>
            <a:r>
              <a:rPr lang="en-US" sz="1725" b="1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| </a:t>
            </a:r>
            <a:r>
              <a:rPr sz="1725" b="1" dirty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AI that doesn’t just assess. It coordinates care.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86AF15-E396-8B75-583E-31D8FDAFF81C}"/>
              </a:ext>
            </a:extLst>
          </p:cNvPr>
          <p:cNvSpPr txBox="1"/>
          <p:nvPr/>
        </p:nvSpPr>
        <p:spPr>
          <a:xfrm>
            <a:off x="365760" y="1024128"/>
            <a:ext cx="832104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Existing healthcare AI usually optimizes one part of care. SmartCareOps connects the full response loop.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819561-8797-6895-6650-E43EB21962C5}"/>
              </a:ext>
            </a:extLst>
          </p:cNvPr>
          <p:cNvSpPr txBox="1"/>
          <p:nvPr/>
        </p:nvSpPr>
        <p:spPr>
          <a:xfrm>
            <a:off x="393192" y="1444752"/>
            <a:ext cx="29718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>
                <a:solidFill>
                  <a:srgbClr val="666666"/>
                </a:solidFill>
                <a:latin typeface="Arial"/>
              </a:defRPr>
            </a:pPr>
            <a:r>
              <a:t>TODAY: SPECIALIZED AI</a:t>
            </a:r>
          </a:p>
        </p:txBody>
      </p:sp>
      <p:sp>
        <p:nvSpPr>
          <p:cNvPr id="7" name="Rounded Rectangle 81">
            <a:extLst>
              <a:ext uri="{FF2B5EF4-FFF2-40B4-BE49-F238E27FC236}">
                <a16:creationId xmlns:a16="http://schemas.microsoft.com/office/drawing/2014/main" id="{EC0C8EC7-AEEA-998A-E27A-D2605695C356}"/>
              </a:ext>
            </a:extLst>
          </p:cNvPr>
          <p:cNvSpPr/>
          <p:nvPr/>
        </p:nvSpPr>
        <p:spPr>
          <a:xfrm>
            <a:off x="393192" y="1700784"/>
            <a:ext cx="2788920" cy="6583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AC7DEE-6079-297D-0D60-910B7E556367}"/>
              </a:ext>
            </a:extLst>
          </p:cNvPr>
          <p:cNvSpPr/>
          <p:nvPr/>
        </p:nvSpPr>
        <p:spPr>
          <a:xfrm>
            <a:off x="393192" y="1700784"/>
            <a:ext cx="64008" cy="65836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DB3990-E7F1-EC55-945D-1636D1046672}"/>
              </a:ext>
            </a:extLst>
          </p:cNvPr>
          <p:cNvSpPr txBox="1"/>
          <p:nvPr/>
        </p:nvSpPr>
        <p:spPr>
          <a:xfrm>
            <a:off x="576072" y="1792224"/>
            <a:ext cx="242316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Arial"/>
              </a:defRPr>
            </a:pPr>
            <a:r>
              <a:rPr dirty="0"/>
              <a:t>PATIENT AI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C4BD58-5C12-B9B2-4541-50F9237858A9}"/>
              </a:ext>
            </a:extLst>
          </p:cNvPr>
          <p:cNvSpPr txBox="1"/>
          <p:nvPr/>
        </p:nvSpPr>
        <p:spPr>
          <a:xfrm>
            <a:off x="576072" y="1993392"/>
            <a:ext cx="2980944" cy="2369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121212"/>
                </a:solidFill>
                <a:latin typeface="Arial"/>
              </a:defRPr>
            </a:pPr>
            <a:r>
              <a:rPr dirty="0"/>
              <a:t>Symptom assessment</a:t>
            </a:r>
            <a:r>
              <a:rPr lang="en-US" dirty="0"/>
              <a:t> </a:t>
            </a:r>
            <a:r>
              <a:rPr dirty="0"/>
              <a:t>&amp; triage</a:t>
            </a:r>
          </a:p>
        </p:txBody>
      </p:sp>
      <p:sp>
        <p:nvSpPr>
          <p:cNvPr id="15" name="Rounded Rectangle 85">
            <a:extLst>
              <a:ext uri="{FF2B5EF4-FFF2-40B4-BE49-F238E27FC236}">
                <a16:creationId xmlns:a16="http://schemas.microsoft.com/office/drawing/2014/main" id="{1C7031FB-FD82-1740-3215-4B1FAEC5442F}"/>
              </a:ext>
            </a:extLst>
          </p:cNvPr>
          <p:cNvSpPr/>
          <p:nvPr/>
        </p:nvSpPr>
        <p:spPr>
          <a:xfrm>
            <a:off x="393192" y="2468880"/>
            <a:ext cx="2788920" cy="6583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B9351C-AF59-DEE2-4C67-459D070CC2F8}"/>
              </a:ext>
            </a:extLst>
          </p:cNvPr>
          <p:cNvSpPr/>
          <p:nvPr/>
        </p:nvSpPr>
        <p:spPr>
          <a:xfrm>
            <a:off x="393192" y="2468880"/>
            <a:ext cx="64008" cy="65836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B771C7-A447-5E2C-08CA-7CF673026B58}"/>
              </a:ext>
            </a:extLst>
          </p:cNvPr>
          <p:cNvSpPr txBox="1"/>
          <p:nvPr/>
        </p:nvSpPr>
        <p:spPr>
          <a:xfrm>
            <a:off x="576072" y="2560320"/>
            <a:ext cx="242316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Arial"/>
              </a:defRPr>
            </a:pPr>
            <a:r>
              <a:t>CLINICAL AI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434C7D-888A-7E98-668D-3EC9D4373E9A}"/>
              </a:ext>
            </a:extLst>
          </p:cNvPr>
          <p:cNvSpPr txBox="1"/>
          <p:nvPr/>
        </p:nvSpPr>
        <p:spPr>
          <a:xfrm>
            <a:off x="576072" y="2761488"/>
            <a:ext cx="2862072" cy="2369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121212"/>
                </a:solidFill>
                <a:latin typeface="Arial"/>
              </a:defRPr>
            </a:pPr>
            <a:r>
              <a:rPr dirty="0"/>
              <a:t>Decision support</a:t>
            </a:r>
            <a:r>
              <a:rPr lang="en-US" dirty="0"/>
              <a:t> </a:t>
            </a:r>
            <a:r>
              <a:rPr dirty="0"/>
              <a:t>&amp; documentation</a:t>
            </a:r>
          </a:p>
        </p:txBody>
      </p:sp>
      <p:sp>
        <p:nvSpPr>
          <p:cNvPr id="23" name="Rounded Rectangle 89">
            <a:extLst>
              <a:ext uri="{FF2B5EF4-FFF2-40B4-BE49-F238E27FC236}">
                <a16:creationId xmlns:a16="http://schemas.microsoft.com/office/drawing/2014/main" id="{63A8C2BC-9048-BC0C-06F8-750D361A6878}"/>
              </a:ext>
            </a:extLst>
          </p:cNvPr>
          <p:cNvSpPr/>
          <p:nvPr/>
        </p:nvSpPr>
        <p:spPr>
          <a:xfrm>
            <a:off x="393192" y="3236976"/>
            <a:ext cx="2788920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CDF307-CC0E-C13D-4079-7348CFA9F493}"/>
              </a:ext>
            </a:extLst>
          </p:cNvPr>
          <p:cNvSpPr/>
          <p:nvPr/>
        </p:nvSpPr>
        <p:spPr>
          <a:xfrm>
            <a:off x="393192" y="3236976"/>
            <a:ext cx="64008" cy="65836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DF9AFC-5D86-DC77-581D-F78FA9136465}"/>
              </a:ext>
            </a:extLst>
          </p:cNvPr>
          <p:cNvSpPr txBox="1"/>
          <p:nvPr/>
        </p:nvSpPr>
        <p:spPr>
          <a:xfrm>
            <a:off x="576072" y="3328416"/>
            <a:ext cx="242316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Arial"/>
              </a:defRPr>
            </a:pPr>
            <a:r>
              <a:t>OPERATIONS AI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B1E30B-CCB3-CE06-1FF9-888387180316}"/>
              </a:ext>
            </a:extLst>
          </p:cNvPr>
          <p:cNvSpPr txBox="1"/>
          <p:nvPr/>
        </p:nvSpPr>
        <p:spPr>
          <a:xfrm>
            <a:off x="576072" y="3529584"/>
            <a:ext cx="278892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121212"/>
                </a:solidFill>
                <a:latin typeface="Arial"/>
              </a:defRPr>
            </a:pPr>
            <a:r>
              <a:rPr dirty="0"/>
              <a:t>Capacity dashboards</a:t>
            </a:r>
            <a:r>
              <a:rPr lang="en-US" dirty="0"/>
              <a:t> </a:t>
            </a:r>
          </a:p>
          <a:p>
            <a:pPr algn="l">
              <a:defRPr sz="1300" b="0">
                <a:solidFill>
                  <a:srgbClr val="121212"/>
                </a:solidFill>
                <a:latin typeface="Arial"/>
              </a:defRPr>
            </a:pPr>
            <a:r>
              <a:rPr dirty="0"/>
              <a:t>&amp; workflow optimization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6F8D01-14F7-E8BB-F273-447DF567D15E}"/>
              </a:ext>
            </a:extLst>
          </p:cNvPr>
          <p:cNvSpPr txBox="1"/>
          <p:nvPr/>
        </p:nvSpPr>
        <p:spPr>
          <a:xfrm>
            <a:off x="3310128" y="2340864"/>
            <a:ext cx="502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800" b="1">
                <a:solidFill>
                  <a:srgbClr val="1A73E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B18502-16F3-C339-8A5E-68468C745748}"/>
              </a:ext>
            </a:extLst>
          </p:cNvPr>
          <p:cNvSpPr txBox="1"/>
          <p:nvPr/>
        </p:nvSpPr>
        <p:spPr>
          <a:xfrm>
            <a:off x="3822191" y="1444752"/>
            <a:ext cx="4919472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>
                <a:solidFill>
                  <a:srgbClr val="1A73E8"/>
                </a:solidFill>
                <a:latin typeface="Arial"/>
              </a:defRPr>
            </a:pPr>
            <a:r>
              <a:t>SMARTCAREOPS: CONNECTED INTELLIGENCE</a:t>
            </a:r>
          </a:p>
        </p:txBody>
      </p:sp>
      <p:sp>
        <p:nvSpPr>
          <p:cNvPr id="35" name="Rounded Rectangle 95">
            <a:extLst>
              <a:ext uri="{FF2B5EF4-FFF2-40B4-BE49-F238E27FC236}">
                <a16:creationId xmlns:a16="http://schemas.microsoft.com/office/drawing/2014/main" id="{10215C6F-4745-506D-AE22-9994BF4186A4}"/>
              </a:ext>
            </a:extLst>
          </p:cNvPr>
          <p:cNvSpPr/>
          <p:nvPr/>
        </p:nvSpPr>
        <p:spPr>
          <a:xfrm>
            <a:off x="3822191" y="1700784"/>
            <a:ext cx="4919472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5B1A074-B29A-E9D5-A0AE-3751B1AF618A}"/>
              </a:ext>
            </a:extLst>
          </p:cNvPr>
          <p:cNvSpPr/>
          <p:nvPr/>
        </p:nvSpPr>
        <p:spPr>
          <a:xfrm>
            <a:off x="4005072" y="1865376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6D7590-3EF8-866A-C091-C3337B56A5FE}"/>
              </a:ext>
            </a:extLst>
          </p:cNvPr>
          <p:cNvSpPr txBox="1"/>
          <p:nvPr/>
        </p:nvSpPr>
        <p:spPr>
          <a:xfrm>
            <a:off x="4434840" y="1847088"/>
            <a:ext cx="224028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>
                <a:solidFill>
                  <a:srgbClr val="262626"/>
                </a:solidFill>
                <a:latin typeface="Arial"/>
              </a:defRPr>
            </a:pPr>
            <a:r>
              <a:t>LIVE PATIENT INTAKE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4775EF-B241-FE49-C5B3-122888469488}"/>
              </a:ext>
            </a:extLst>
          </p:cNvPr>
          <p:cNvSpPr txBox="1"/>
          <p:nvPr/>
        </p:nvSpPr>
        <p:spPr>
          <a:xfrm>
            <a:off x="4434840" y="2057400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Arial"/>
              </a:defRPr>
            </a:pPr>
            <a:r>
              <a:t>Understands the present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B281FE-28EB-7A8D-23B2-D669899976AA}"/>
              </a:ext>
            </a:extLst>
          </p:cNvPr>
          <p:cNvSpPr txBox="1"/>
          <p:nvPr/>
        </p:nvSpPr>
        <p:spPr>
          <a:xfrm>
            <a:off x="6693408" y="1965960"/>
            <a:ext cx="17830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voice • symptoms • vitals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AB7B982-20A8-D0AE-4DDA-581735965F2D}"/>
              </a:ext>
            </a:extLst>
          </p:cNvPr>
          <p:cNvSpPr/>
          <p:nvPr/>
        </p:nvSpPr>
        <p:spPr>
          <a:xfrm>
            <a:off x="4151376" y="2203704"/>
            <a:ext cx="27432" cy="237744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AC718F9-762A-972B-9EA4-C59DDB2B4F70}"/>
              </a:ext>
            </a:extLst>
          </p:cNvPr>
          <p:cNvSpPr/>
          <p:nvPr/>
        </p:nvSpPr>
        <p:spPr>
          <a:xfrm>
            <a:off x="4005072" y="2469954"/>
            <a:ext cx="310896" cy="310896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81C201-7995-256D-31E1-39763BC3678D}"/>
              </a:ext>
            </a:extLst>
          </p:cNvPr>
          <p:cNvSpPr txBox="1"/>
          <p:nvPr/>
        </p:nvSpPr>
        <p:spPr>
          <a:xfrm>
            <a:off x="4434840" y="2451666"/>
            <a:ext cx="224028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>
                <a:solidFill>
                  <a:srgbClr val="262626"/>
                </a:solidFill>
                <a:latin typeface="Arial"/>
              </a:defRPr>
            </a:pPr>
            <a:r>
              <a:rPr dirty="0"/>
              <a:t>DOCTOR PORTAL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D8631F-CFCD-256C-E61A-5F61971CD7E5}"/>
              </a:ext>
            </a:extLst>
          </p:cNvPr>
          <p:cNvSpPr txBox="1"/>
          <p:nvPr/>
        </p:nvSpPr>
        <p:spPr>
          <a:xfrm>
            <a:off x="4434840" y="2661978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34A853"/>
                </a:solidFill>
                <a:latin typeface="Arial"/>
              </a:defRPr>
            </a:pPr>
            <a:r>
              <a:rPr dirty="0"/>
              <a:t>Reasons about the individual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248231-A2DA-47FB-3408-201C072F4CB7}"/>
              </a:ext>
            </a:extLst>
          </p:cNvPr>
          <p:cNvSpPr txBox="1"/>
          <p:nvPr/>
        </p:nvSpPr>
        <p:spPr>
          <a:xfrm>
            <a:off x="6693408" y="2624328"/>
            <a:ext cx="17830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rPr dirty="0"/>
              <a:t>assess • explain • act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499D7F3-495D-AD49-199C-8023F52A6293}"/>
              </a:ext>
            </a:extLst>
          </p:cNvPr>
          <p:cNvSpPr/>
          <p:nvPr/>
        </p:nvSpPr>
        <p:spPr>
          <a:xfrm>
            <a:off x="4151376" y="2862072"/>
            <a:ext cx="27432" cy="237744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DC31AFE-C1DA-ED27-6677-EE8121DB6BAC}"/>
              </a:ext>
            </a:extLst>
          </p:cNvPr>
          <p:cNvSpPr/>
          <p:nvPr/>
        </p:nvSpPr>
        <p:spPr>
          <a:xfrm>
            <a:off x="4005072" y="3182112"/>
            <a:ext cx="310896" cy="310896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B4DC96-DD5F-7AB9-DC5E-31B06FF0007D}"/>
              </a:ext>
            </a:extLst>
          </p:cNvPr>
          <p:cNvSpPr txBox="1"/>
          <p:nvPr/>
        </p:nvSpPr>
        <p:spPr>
          <a:xfrm>
            <a:off x="4434840" y="3163824"/>
            <a:ext cx="224028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>
                <a:solidFill>
                  <a:srgbClr val="262626"/>
                </a:solidFill>
                <a:latin typeface="Arial"/>
              </a:defRPr>
            </a:pPr>
            <a:r>
              <a:t>COMMAND CENTER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00B2E5-9E7A-8EBA-652F-7E7BB64481E6}"/>
              </a:ext>
            </a:extLst>
          </p:cNvPr>
          <p:cNvSpPr txBox="1"/>
          <p:nvPr/>
        </p:nvSpPr>
        <p:spPr>
          <a:xfrm>
            <a:off x="4434840" y="3374136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EA4335"/>
                </a:solidFill>
                <a:latin typeface="Arial"/>
              </a:defRPr>
            </a:pPr>
            <a:r>
              <a:t>Anticipates the system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A1B43AC-E56B-4BFB-1B51-4814C59187F9}"/>
              </a:ext>
            </a:extLst>
          </p:cNvPr>
          <p:cNvSpPr txBox="1"/>
          <p:nvPr/>
        </p:nvSpPr>
        <p:spPr>
          <a:xfrm>
            <a:off x="6693408" y="3282696"/>
            <a:ext cx="17830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predict • simulate • replan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083066-6C2E-2C1A-E9C2-7EE715CA1EB4}"/>
              </a:ext>
            </a:extLst>
          </p:cNvPr>
          <p:cNvSpPr txBox="1"/>
          <p:nvPr/>
        </p:nvSpPr>
        <p:spPr>
          <a:xfrm>
            <a:off x="4160520" y="3666744"/>
            <a:ext cx="4343400" cy="146304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rPr dirty="0"/>
              <a:t>ONE LOOP • THREE QUESTIONS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579BF54-F6C0-B6D5-8B9C-9517A59FECDB}"/>
              </a:ext>
            </a:extLst>
          </p:cNvPr>
          <p:cNvSpPr txBox="1"/>
          <p:nvPr/>
        </p:nvSpPr>
        <p:spPr>
          <a:xfrm>
            <a:off x="4165092" y="3803904"/>
            <a:ext cx="438912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defRPr sz="950" b="1">
                <a:solidFill>
                  <a:srgbClr val="121212"/>
                </a:solidFill>
                <a:latin typeface="Arial"/>
              </a:defRPr>
            </a:pPr>
            <a:r>
              <a:rPr dirty="0"/>
              <a:t>What is happening?  •  What should we do?  •  What happens next?</a:t>
            </a:r>
          </a:p>
        </p:txBody>
      </p:sp>
      <p:sp>
        <p:nvSpPr>
          <p:cNvPr id="69" name="Rounded Rectangle 112">
            <a:extLst>
              <a:ext uri="{FF2B5EF4-FFF2-40B4-BE49-F238E27FC236}">
                <a16:creationId xmlns:a16="http://schemas.microsoft.com/office/drawing/2014/main" id="{8B4D3D74-57E2-E738-5CA8-A310C2486E7B}"/>
              </a:ext>
            </a:extLst>
          </p:cNvPr>
          <p:cNvSpPr/>
          <p:nvPr/>
        </p:nvSpPr>
        <p:spPr>
          <a:xfrm>
            <a:off x="393192" y="4242816"/>
            <a:ext cx="8339327" cy="438912"/>
          </a:xfrm>
          <a:prstGeom prst="round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70CF1F-B0E1-4C14-D4A1-42F7C5BC910C}"/>
              </a:ext>
            </a:extLst>
          </p:cNvPr>
          <p:cNvSpPr txBox="1"/>
          <p:nvPr/>
        </p:nvSpPr>
        <p:spPr>
          <a:xfrm>
            <a:off x="640080" y="4306824"/>
            <a:ext cx="502920" cy="1280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defRPr sz="800" b="1">
                <a:solidFill>
                  <a:srgbClr val="B4B4B4"/>
                </a:solidFill>
                <a:latin typeface="Arial"/>
              </a:defRPr>
            </a:pPr>
            <a:r>
              <a:t>USP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80A7796-E63A-CFFE-9412-D1CD95D2C632}"/>
              </a:ext>
            </a:extLst>
          </p:cNvPr>
          <p:cNvSpPr txBox="1"/>
          <p:nvPr/>
        </p:nvSpPr>
        <p:spPr>
          <a:xfrm>
            <a:off x="1115568" y="4297680"/>
            <a:ext cx="7360920" cy="3416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rial"/>
              </a:defRPr>
            </a:pPr>
            <a:r>
              <a:rPr dirty="0"/>
              <a:t>Most healthcare AI stops at the answer. SmartCareOps turns it into coordinated action and keeps reasoning as conditions change.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3E795A4-29DF-BB96-B310-7E9C5DB6E981}"/>
              </a:ext>
            </a:extLst>
          </p:cNvPr>
          <p:cNvSpPr txBox="1"/>
          <p:nvPr/>
        </p:nvSpPr>
        <p:spPr>
          <a:xfrm>
            <a:off x="365760" y="667512"/>
            <a:ext cx="83210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500" b="1">
                <a:solidFill>
                  <a:srgbClr val="121212"/>
                </a:solidFill>
                <a:latin typeface="Arial"/>
              </a:defRPr>
            </a:pPr>
            <a:r>
              <a:rPr dirty="0"/>
              <a:t>How is SmartCareOps different?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73CE2325-D1AA-E0C9-DD0D-0A16C6EC3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>
            <a:extLst>
              <a:ext uri="{FF2B5EF4-FFF2-40B4-BE49-F238E27FC236}">
                <a16:creationId xmlns:a16="http://schemas.microsoft.com/office/drawing/2014/main" id="{B39662BA-1D26-B271-FBED-2873393B85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>
            <a:extLst>
              <a:ext uri="{FF2B5EF4-FFF2-40B4-BE49-F238E27FC236}">
                <a16:creationId xmlns:a16="http://schemas.microsoft.com/office/drawing/2014/main" id="{534204C2-9B9B-D020-424F-52556749BCB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7EEB277A-81B0-FF56-BF6B-180B10F67C8C}"/>
              </a:ext>
            </a:extLst>
          </p:cNvPr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59F977A6-3FAA-6CB2-0C68-C48D354D0D97}"/>
              </a:ext>
            </a:extLst>
          </p:cNvPr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 dirty="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 dirty="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 dirty="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 dirty="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47779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558</Words>
  <Application>Microsoft Office PowerPoint</Application>
  <PresentationFormat>On-screen Show (16:9)</PresentationFormat>
  <Paragraphs>66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Google Sans Flex</vt:lpstr>
      <vt:lpstr>Arial</vt:lpstr>
      <vt:lpstr>Google Sans Flex SemiBold</vt:lpstr>
      <vt:lpstr>Google Sans Flex Medium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jladmin</dc:creator>
  <cp:lastModifiedBy>JL Garcia</cp:lastModifiedBy>
  <cp:revision>12</cp:revision>
  <dcterms:modified xsi:type="dcterms:W3CDTF">2026-09-25T21:44:59Z</dcterms:modified>
</cp:coreProperties>
</file>