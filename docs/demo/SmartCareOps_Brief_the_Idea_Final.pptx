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b856a638d74779" /><Relationship Type="http://schemas.openxmlformats.org/officeDocument/2006/relationships/extended-properties" Target="/docProps/app.xml" Id="R9857cf1ee3054f21" /><Relationship Type="http://schemas.openxmlformats.org/officeDocument/2006/relationships/officeDocument" Target="/ppt/presentation.xml" Id="R95e46b50a974416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2622f179685e46ce"/>
  </p:sldMasterIdLst>
  <p:notesMasterIdLst>
    <p:notesMasterId xmlns:r="http://schemas.openxmlformats.org/officeDocument/2006/relationships" r:id="R26f1144eb4a74001"/>
  </p:notesMasterIdLst>
  <p:sldIdLst>
    <p:sldId xmlns:r="http://schemas.openxmlformats.org/officeDocument/2006/relationships" id="256" r:id="R32deb1ae32a84303"/>
  </p:sldIdLst>
  <p:sldSz cx="9144000" cy="5143500"/>
  <p:notesSz cx="6858000" cy="9144000"/>
  <p:embeddedFontLst>
    <p:embeddedFont>
      <p:font typeface="Google Sans Flex"/>
      <p:regular xmlns:r="http://schemas.openxmlformats.org/officeDocument/2006/relationships" r:id="R966bbb1e74f04c2d"/>
      <p:bold xmlns:r="http://schemas.openxmlformats.org/officeDocument/2006/relationships" r:id="Rf67ee245c6524c86"/>
    </p:embeddedFont>
    <p:embeddedFont>
      <p:font typeface="Google Sans Flex Medium"/>
      <p:regular xmlns:r="http://schemas.openxmlformats.org/officeDocument/2006/relationships" r:id="Rb513ecabbecc4895"/>
      <p:bold xmlns:r="http://schemas.openxmlformats.org/officeDocument/2006/relationships" r:id="R4c32c6c8a0fd4bf1"/>
    </p:embeddedFont>
    <p:embeddedFont>
      <p:font typeface="Google Sans Flex SemiBold"/>
      <p:regular xmlns:r="http://schemas.openxmlformats.org/officeDocument/2006/relationships" r:id="Rdeeac02d5ded4ff5"/>
      <p:bold xmlns:r="http://schemas.openxmlformats.org/officeDocument/2006/relationships" r:id="R89ad1e5f4e284b8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7fecd420d740bd" /><Relationship Type="http://schemas.openxmlformats.org/officeDocument/2006/relationships/slideMaster" Target="/ppt/slideMasters/slideMaster1.xml" Id="R2622f179685e46ce" /><Relationship Type="http://schemas.openxmlformats.org/officeDocument/2006/relationships/notesMaster" Target="/ppt/notesMasters/notesMaster1.xml" Id="R26f1144eb4a74001" /><Relationship Type="http://schemas.openxmlformats.org/officeDocument/2006/relationships/presProps" Target="/ppt/presProps.xml" Id="Ra8f4705aa9b84ab4" /><Relationship Type="http://schemas.openxmlformats.org/officeDocument/2006/relationships/viewProps" Target="/ppt/viewProps.xml" Id="R6189de8b82f4404b" /><Relationship Type="http://schemas.openxmlformats.org/officeDocument/2006/relationships/tableStyles" Target="/ppt/tableStyles.xml" Id="Ra6e5a2c988bd435e" /><Relationship Type="http://schemas.openxmlformats.org/officeDocument/2006/relationships/font" Target="/ppt/fonts/font.dat" Id="R966bbb1e74f04c2d" /><Relationship Type="http://schemas.openxmlformats.org/officeDocument/2006/relationships/font" Target="/ppt/fonts/font2.dat" Id="Rf67ee245c6524c86" /><Relationship Type="http://schemas.openxmlformats.org/officeDocument/2006/relationships/font" Target="/ppt/fonts/font3.dat" Id="Rb513ecabbecc4895" /><Relationship Type="http://schemas.openxmlformats.org/officeDocument/2006/relationships/font" Target="/ppt/fonts/font4.dat" Id="R4c32c6c8a0fd4bf1" /><Relationship Type="http://schemas.openxmlformats.org/officeDocument/2006/relationships/font" Target="/ppt/fonts/font5.dat" Id="Rdeeac02d5ded4ff5" /><Relationship Type="http://schemas.openxmlformats.org/officeDocument/2006/relationships/font" Target="/ppt/fonts/font6.dat" Id="R89ad1e5f4e284b8e" /><Relationship Type="http://schemas.openxmlformats.org/officeDocument/2006/relationships/slide" Target="/ppt/slides/slide1.xml" Id="R32deb1ae32a843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f32d7e9d3b4d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4e59944afc4b54" /><Relationship Type="http://schemas.openxmlformats.org/officeDocument/2006/relationships/notesMaster" Target="/ppt/notesMasters/notesMaster1.xml" Id="R4a5f3637bbca4a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SmartCareOps connects the full care response journey through three intelligence layers. Patient Intake uses Gemini Live. The Doctor Portal keeps consequential decisions under doctor approval. The Command Center monitors a simulated healthcare network and uses CareTwin to compare possible responses.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approved SmartCareOps messaging supplied by the user in the referenced Google AI Builder Cup Workspace conversation. Design source: Prototype_AI_Builder_Cup.pptx, slide 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05e88ead440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4264c1fc641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f59790e4a4d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aadf0d555043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b4cb14788d45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d01302ae69490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81c042686499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4e1d1bab64fe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b26e68fdb427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b4142cba1344c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448ff6edf4a9c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EDBA8755-4E37-4831-A1CB-56CF2ED14B7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2684C1C8-8DD9-4B60-A3B6-A93897D90B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00915B9C-4023-4A06-8BD0-20B68B2F78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B3C256BD-1F00-48B3-9A1A-BC424F58DB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>
            <a:endParaRPr/>
          </a:p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D4D3607B-1B62-4C76-AB3E-B10F087D0A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A1C6A368-505C-488F-B9CC-6B5288BB54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768889A1-07FC-44A4-B81F-76AF578595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A08BC61D-9A4D-4A0D-B839-379C0234CE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A98A30B3-541D-4662-907B-15E16FCD9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10AD4CC1-3C8F-43AE-9AF9-74C450EA4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5D1C4A35-0503-4A6B-B728-605486CEEE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BE972203-463B-46E9-8A4E-266A7355E5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12144A9A-1F58-4B2F-8D39-BC19138F96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5CE8A5C9-D489-469D-B955-DF8510654B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1E4C00C4-7FE1-4FD1-AD74-CC6FCABFE2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>
            <a:endParaRPr/>
          </a:p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2227BDBC-45AC-48C8-BB4C-B46F95A9F4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FF7D917E-7C75-4152-A723-FAC25EB327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9CD4BA19-6F0F-415C-92D9-710F4C869B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endParaRPr/>
          </a:p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D667F352-6F19-4855-BF79-E669A25ABD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0CFFF990-CDE7-4F5C-B3AB-7FF8AFF4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D13C95CB-270B-4DAA-A533-53271F27AA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0BBB7753-8367-4891-A903-EB20C7BE29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8EFB17D6-0FC7-4A6B-A856-D348C1F31F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9FA5D57B-F917-4B81-A88C-9B046B0EB4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66E0AA84-6D1E-477A-9972-1251E74069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E86E5A57-4474-460D-919C-A9461D3DD0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C57938AE-EC9B-4E62-A25C-E94FFFDC979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B16270D5-5D22-4A42-BFD0-287DCE19DF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7F77326C-0501-4A82-A928-0E4B90BB16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1848FED4-ABDE-443F-A787-B7CD392DFB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1958432138470a" /><Relationship Type="http://schemas.openxmlformats.org/officeDocument/2006/relationships/slideLayout" Target="/ppt/slideLayouts/slideLayout1.xml" Id="Rfe32894acb9d4038" /><Relationship Type="http://schemas.openxmlformats.org/officeDocument/2006/relationships/slideLayout" Target="/ppt/slideLayouts/slideLayout2.xml" Id="Red413ffa72f546df" /><Relationship Type="http://schemas.openxmlformats.org/officeDocument/2006/relationships/slideLayout" Target="/ppt/slideLayouts/slideLayout3.xml" Id="R36d327b30bf74604" /><Relationship Type="http://schemas.openxmlformats.org/officeDocument/2006/relationships/slideLayout" Target="/ppt/slideLayouts/slideLayout4.xml" Id="R8ab1370342b24cea" /><Relationship Type="http://schemas.openxmlformats.org/officeDocument/2006/relationships/slideLayout" Target="/ppt/slideLayouts/slideLayout5.xml" Id="R759da3fe2eeb489f" /><Relationship Type="http://schemas.openxmlformats.org/officeDocument/2006/relationships/slideLayout" Target="/ppt/slideLayouts/slideLayout6.xml" Id="R43a4d906effd4f0b" /><Relationship Type="http://schemas.openxmlformats.org/officeDocument/2006/relationships/slideLayout" Target="/ppt/slideLayouts/slideLayout7.xml" Id="R77e865eb42e242c1" /><Relationship Type="http://schemas.openxmlformats.org/officeDocument/2006/relationships/slideLayout" Target="/ppt/slideLayouts/slideLayout8.xml" Id="R1fc1e1129e68458b" /><Relationship Type="http://schemas.openxmlformats.org/officeDocument/2006/relationships/slideLayout" Target="/ppt/slideLayouts/slideLayout9.xml" Id="R6c8f883ba3104030" /><Relationship Type="http://schemas.openxmlformats.org/officeDocument/2006/relationships/slideLayout" Target="/ppt/slideLayouts/slideLayout10.xml" Id="R0581f282de49458a" /><Relationship Type="http://schemas.openxmlformats.org/officeDocument/2006/relationships/slideLayout" Target="/ppt/slideLayouts/slideLayout11.xml" Id="Rd52b6ea4b2ba4728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C732FDC-2055-4774-B77D-68C58AF563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722252DA-2BDE-4BA4-92BF-BE4872E460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D36BA269-2759-4AD8-A3D8-AE18A4A24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32894acb9d4038"/>
    <p:sldLayoutId xmlns:r="http://schemas.openxmlformats.org/officeDocument/2006/relationships" id="2147483650" r:id="Red413ffa72f546df"/>
    <p:sldLayoutId xmlns:r="http://schemas.openxmlformats.org/officeDocument/2006/relationships" id="2147483651" r:id="R36d327b30bf74604"/>
    <p:sldLayoutId xmlns:r="http://schemas.openxmlformats.org/officeDocument/2006/relationships" id="2147483652" r:id="R8ab1370342b24cea"/>
    <p:sldLayoutId xmlns:r="http://schemas.openxmlformats.org/officeDocument/2006/relationships" id="2147483653" r:id="R759da3fe2eeb489f"/>
    <p:sldLayoutId xmlns:r="http://schemas.openxmlformats.org/officeDocument/2006/relationships" id="2147483654" r:id="R43a4d906effd4f0b"/>
    <p:sldLayoutId xmlns:r="http://schemas.openxmlformats.org/officeDocument/2006/relationships" id="2147483655" r:id="R77e865eb42e242c1"/>
    <p:sldLayoutId xmlns:r="http://schemas.openxmlformats.org/officeDocument/2006/relationships" id="2147483656" r:id="R1fc1e1129e68458b"/>
    <p:sldLayoutId xmlns:r="http://schemas.openxmlformats.org/officeDocument/2006/relationships" id="2147483657" r:id="R6c8f883ba3104030"/>
    <p:sldLayoutId xmlns:r="http://schemas.openxmlformats.org/officeDocument/2006/relationships" id="2147483658" r:id="R0581f282de49458a"/>
    <p:sldLayoutId xmlns:r="http://schemas.openxmlformats.org/officeDocument/2006/relationships" id="2147483659" r:id="Rd52b6ea4b2ba472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d87e817fd4fc6" /><Relationship Type="http://schemas.openxmlformats.org/officeDocument/2006/relationships/image" Target="/ppt/media/image.png" Id="R47e1616bd7374b0b" /><Relationship Type="http://schemas.openxmlformats.org/officeDocument/2006/relationships/notesSlide" Target="/ppt/notesSlides/notesSlide1.xml" Id="Re1d3551068184c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2" name="Google Shape;69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1616bd7374b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6AD63423-AA08-46A7-BE73-EA3C435F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6825"/>
            <a:ext cx="9144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87476EC9-ECE3-41F3-BD80-D4C1C884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477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Brief the Idea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73" name="Definition">
            <a:extLst xmlns:a="http://schemas.openxmlformats.org/drawingml/2006/main">
              <a:ext uri="{FF2B5EF4-FFF2-40B4-BE49-F238E27FC236}">
                <a16:creationId xmlns:a16="http://schemas.microsoft.com/office/drawing/2014/main" id="{C0E87F52-5F03-41C6-9774-06D3889B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38250"/>
            <a:ext cx="8353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SmartCareOps is an agentic healthcare orchestration platform that turns patient conversations into coordinated care actions.</a:t>
            </a:r>
          </a:p>
        </p:txBody>
      </p:sp>
      <p:sp>
        <p:nvSpPr>
          <p:cNvPr id="74" name="Intelligence layer 1">
            <a:extLst xmlns:a="http://schemas.openxmlformats.org/drawingml/2006/main">
              <a:ext uri="{FF2B5EF4-FFF2-40B4-BE49-F238E27FC236}">
                <a16:creationId xmlns:a16="http://schemas.microsoft.com/office/drawing/2014/main" id="{629B3258-C661-4090-8732-5BCC5055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76450"/>
            <a:ext cx="26479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967D2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800" b="1">
                <a:solidFill>
                  <a:srgbClr val="1967D2"/>
                </a:solidFill>
                <a:latin typeface="Google Sans Flex"/>
                <a:ea typeface="Google Sans Flex"/>
                <a:cs typeface="Google Sans Flex"/>
              </a:rPr>
              <a:t>Patient Intake understands the present.</a:t>
            </a:r>
          </a:p>
        </p:txBody>
      </p:sp>
      <p:sp>
        <p:nvSpPr>
          <p:cNvPr id="75" name="Layer detail 1">
            <a:extLst xmlns:a="http://schemas.openxmlformats.org/drawingml/2006/main">
              <a:ext uri="{FF2B5EF4-FFF2-40B4-BE49-F238E27FC236}">
                <a16:creationId xmlns:a16="http://schemas.microsoft.com/office/drawing/2014/main" id="{BC4EE92D-DE9C-4605-B6EF-8BF3FA13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76600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Live captures symptoms, vitals and context through natural voice interaction.</a:t>
            </a:r>
          </a:p>
        </p:txBody>
      </p:sp>
      <p:sp>
        <p:nvSpPr>
          <p:cNvPr id="76" name="Intelligence layer 2">
            <a:extLst xmlns:a="http://schemas.openxmlformats.org/drawingml/2006/main">
              <a:ext uri="{FF2B5EF4-FFF2-40B4-BE49-F238E27FC236}">
                <a16:creationId xmlns:a16="http://schemas.microsoft.com/office/drawing/2014/main" id="{B39173A6-D77F-4E91-92B3-7B837FD0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76450"/>
            <a:ext cx="26479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03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800" b="1">
                <a:solidFill>
                  <a:srgbClr val="188038"/>
                </a:solidFill>
                <a:latin typeface="Google Sans Flex"/>
                <a:ea typeface="Google Sans Flex"/>
                <a:cs typeface="Google Sans Flex"/>
              </a:rPr>
              <a:t>Doctor Portal reasons about the individual.</a:t>
            </a:r>
          </a:p>
        </p:txBody>
      </p:sp>
      <p:sp>
        <p:nvSpPr>
          <p:cNvPr id="77" name="Layer detail 2">
            <a:extLst xmlns:a="http://schemas.openxmlformats.org/drawingml/2006/main">
              <a:ext uri="{FF2B5EF4-FFF2-40B4-BE49-F238E27FC236}">
                <a16:creationId xmlns:a16="http://schemas.microsoft.com/office/drawing/2014/main" id="{859564C5-E108-443E-B739-764C3B53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76600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explains risks and next steps with Why / Why Not, under doctor approval.</a:t>
            </a:r>
          </a:p>
        </p:txBody>
      </p:sp>
      <p:sp>
        <p:nvSpPr>
          <p:cNvPr id="78" name="Intelligence layer 3">
            <a:extLst xmlns:a="http://schemas.openxmlformats.org/drawingml/2006/main">
              <a:ext uri="{FF2B5EF4-FFF2-40B4-BE49-F238E27FC236}">
                <a16:creationId xmlns:a16="http://schemas.microsoft.com/office/drawing/2014/main" id="{5D08ADC9-74A8-41FF-825E-8B9FD0B5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76450"/>
            <a:ext cx="26479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142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800" b="1">
                <a:solidFill>
                  <a:srgbClr val="A142F4"/>
                </a:solidFill>
                <a:latin typeface="Google Sans Flex"/>
                <a:ea typeface="Google Sans Flex"/>
                <a:cs typeface="Google Sans Flex"/>
              </a:rPr>
              <a:t>Command Center reasons about the future of the healthcare system.</a:t>
            </a:r>
          </a:p>
        </p:txBody>
      </p:sp>
      <p:sp>
        <p:nvSpPr>
          <p:cNvPr id="79" name="Layer detail 3">
            <a:extLst xmlns:a="http://schemas.openxmlformats.org/drawingml/2006/main">
              <a:ext uri="{FF2B5EF4-FFF2-40B4-BE49-F238E27FC236}">
                <a16:creationId xmlns:a16="http://schemas.microsoft.com/office/drawing/2014/main" id="{94031334-28E8-4CC9-B545-C28948A9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76600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CareTwin forecasts network pressures, compares responses and replans as conditions change.</a:t>
            </a:r>
          </a:p>
        </p:txBody>
      </p:sp>
      <p:sp>
        <p:nvSpPr>
          <p:cNvPr id="80" name="Care journey">
            <a:extLst xmlns:a="http://schemas.openxmlformats.org/drawingml/2006/main">
              <a:ext uri="{FF2B5EF4-FFF2-40B4-BE49-F238E27FC236}">
                <a16:creationId xmlns:a16="http://schemas.microsoft.com/office/drawing/2014/main" id="{17C07478-D288-428E-BD07-B2CB7323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14800"/>
            <a:ext cx="847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9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9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first contact → understand → reason → triage → route → coordinate → respond → monitor → learn</a:t>
            </a:r>
          </a:p>
        </p:txBody>
      </p:sp>
      <p:sp>
        <p:nvSpPr>
          <p:cNvPr id="81" name="Tagline">
            <a:extLst xmlns:a="http://schemas.openxmlformats.org/drawingml/2006/main">
              <a:ext uri="{FF2B5EF4-FFF2-40B4-BE49-F238E27FC236}">
                <a16:creationId xmlns:a16="http://schemas.microsoft.com/office/drawing/2014/main" id="{2D0D9392-A643-433F-A365-07A3EF5F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91050"/>
            <a:ext cx="847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SmartCareOps — AI that doesn’t just assess. It coordinates care.</a:t>
            </a:r>
          </a:p>
        </p:txBody>
      </p:sp>
    </p:spTree>
    <p:extLst>
      <p:ext uri="{BB962C8B-B14F-4D97-AF65-F5344CB8AC3E}">
        <p14:creationId xmlns:p14="http://schemas.microsoft.com/office/powerpoint/2010/main" val="2116760015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2026-09-25T20:08:05.1700000Z</dcterms:created>
  <dcterms:modified xsi:type="dcterms:W3CDTF">2026-09-25T20:08:05.1700000Z</dcterms:modified>
</coreProperties>
</file>